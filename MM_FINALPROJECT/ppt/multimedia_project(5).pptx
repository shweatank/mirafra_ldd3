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47E3D454-BF1A-4CF3-99B9-8B48EFA99699}"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B78775C-51B7-4C2D-A2EE-7F82AF62C1F5}"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C2F934C-E353-4BBF-ABE5-D1C9C2449D9E}"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B5A1F01-EDB4-4E51-94C6-53CB867897FD}"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245D410-8E4C-4F23-9D3D-05702A507598}"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914400" y="410400"/>
            <a:ext cx="16458840" cy="7962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03E48B4-44F7-4DD9-9CFE-85A9F4A380D1}"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91440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AF77B25-F46E-4195-825B-3AEA3086BAC3}"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934812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E6ED273-B061-40A7-821C-39E5AB9D142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914400" y="5523120"/>
            <a:ext cx="1645884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F214185-1D8D-4294-933F-D10F70A2C25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914400" y="2406960"/>
            <a:ext cx="1645884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914400" y="5523120"/>
            <a:ext cx="1645884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70A7BA9-290B-4004-BECB-ACE47CCF2485}"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91440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934812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E03F589E-74EF-4137-ADCE-C6CCE258F3CD}"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914400" y="240696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6479280" y="240696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12044160" y="240696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914400" y="552312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6479280" y="552312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12044160" y="552312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757697A3-4162-45FA-9D93-5ACF31E57241}" type="slidenum">
              <a:t>&lt;#&gt;</a:t>
            </a:fld>
          </a:p>
        </p:txBody>
      </p:sp>
      <p:sp>
        <p:nvSpPr>
          <p:cNvPr id="11" name="PlaceHolder 10"/>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IN" sz="12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B78894B1-5DAA-4641-A043-5A67032E3666}" type="slidenum">
              <a:rPr b="0" lang="en-US" sz="1200" spc="-1" strike="noStrike">
                <a:solidFill>
                  <a:srgbClr val="8b8b8b"/>
                </a:solidFill>
                <a:latin typeface="Calibri"/>
              </a:rPr>
              <a:t>&lt;number&gt;</a:t>
            </a:fld>
            <a:endParaRPr b="0" lang="en-IN" sz="1200" spc="-1" strike="noStrike">
              <a:latin typeface="Times New Roman"/>
            </a:endParaRPr>
          </a:p>
        </p:txBody>
      </p:sp>
      <p:sp>
        <p:nvSpPr>
          <p:cNvPr id="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cf7"/>
        </a:solidFill>
      </p:bgPr>
    </p:bg>
    <p:spTree>
      <p:nvGrpSpPr>
        <p:cNvPr id="1" name=""/>
        <p:cNvGrpSpPr/>
        <p:nvPr/>
      </p:nvGrpSpPr>
      <p:grpSpPr>
        <a:xfrm>
          <a:off x="0" y="0"/>
          <a:ext cx="0" cy="0"/>
          <a:chOff x="0" y="0"/>
          <a:chExt cx="0" cy="0"/>
        </a:xfrm>
      </p:grpSpPr>
      <p:grpSp>
        <p:nvGrpSpPr>
          <p:cNvPr id="41" name="Group 2"/>
          <p:cNvGrpSpPr/>
          <p:nvPr/>
        </p:nvGrpSpPr>
        <p:grpSpPr>
          <a:xfrm>
            <a:off x="1028880" y="3290040"/>
            <a:ext cx="16230240" cy="2191680"/>
            <a:chOff x="1028880" y="3290040"/>
            <a:chExt cx="16230240" cy="2191680"/>
          </a:xfrm>
        </p:grpSpPr>
        <p:sp>
          <p:nvSpPr>
            <p:cNvPr id="42" name="TextBox 3"/>
            <p:cNvSpPr/>
            <p:nvPr/>
          </p:nvSpPr>
          <p:spPr>
            <a:xfrm>
              <a:off x="1028880" y="3290040"/>
              <a:ext cx="16230240" cy="1135080"/>
            </a:xfrm>
            <a:prstGeom prst="rect">
              <a:avLst/>
            </a:prstGeom>
            <a:noFill/>
            <a:ln w="0">
              <a:noFill/>
            </a:ln>
          </p:spPr>
          <p:style>
            <a:lnRef idx="0"/>
            <a:fillRef idx="0"/>
            <a:effectRef idx="0"/>
            <a:fontRef idx="minor"/>
          </p:style>
          <p:txBody>
            <a:bodyPr lIns="0" rIns="0" tIns="0" bIns="0" anchor="t">
              <a:spAutoFit/>
            </a:bodyPr>
            <a:p>
              <a:pPr algn="ctr">
                <a:lnSpc>
                  <a:spcPts val="4467"/>
                </a:lnSpc>
                <a:buNone/>
              </a:pPr>
              <a:r>
                <a:rPr b="0" lang="en-US" sz="4059" spc="-1" strike="noStrike">
                  <a:solidFill>
                    <a:srgbClr val="2b2b2b"/>
                  </a:solidFill>
                  <a:latin typeface="Agrandir"/>
                  <a:ea typeface="Agrandir"/>
                </a:rPr>
                <a:t>Real-Time Multimedia Capture, Encoding, Compression, and Synchronized Playback on Raspberry Pi</a:t>
              </a:r>
              <a:endParaRPr b="0" lang="en-IN" sz="4059" spc="-1" strike="noStrike">
                <a:latin typeface="Arial"/>
              </a:endParaRPr>
            </a:p>
          </p:txBody>
        </p:sp>
        <p:sp>
          <p:nvSpPr>
            <p:cNvPr id="43" name="TextBox 4"/>
            <p:cNvSpPr/>
            <p:nvPr/>
          </p:nvSpPr>
          <p:spPr>
            <a:xfrm>
              <a:off x="1028880" y="4830120"/>
              <a:ext cx="16230240" cy="651600"/>
            </a:xfrm>
            <a:prstGeom prst="rect">
              <a:avLst/>
            </a:prstGeom>
            <a:noFill/>
            <a:ln w="0">
              <a:noFill/>
            </a:ln>
          </p:spPr>
          <p:style>
            <a:lnRef idx="0"/>
            <a:fillRef idx="0"/>
            <a:effectRef idx="0"/>
            <a:fontRef idx="minor"/>
          </p:style>
        </p:sp>
      </p:grpSp>
      <p:sp>
        <p:nvSpPr>
          <p:cNvPr id="44" name="TextBox 5"/>
          <p:cNvSpPr/>
          <p:nvPr/>
        </p:nvSpPr>
        <p:spPr>
          <a:xfrm>
            <a:off x="9682920" y="7327440"/>
            <a:ext cx="7575840" cy="1860120"/>
          </a:xfrm>
          <a:prstGeom prst="rect">
            <a:avLst/>
          </a:prstGeom>
          <a:noFill/>
          <a:ln w="0">
            <a:noFill/>
          </a:ln>
        </p:spPr>
        <p:style>
          <a:lnRef idx="0"/>
          <a:fillRef idx="0"/>
          <a:effectRef idx="0"/>
          <a:fontRef idx="minor"/>
        </p:style>
        <p:txBody>
          <a:bodyPr lIns="0" rIns="0" tIns="0" bIns="0" anchor="t">
            <a:spAutoFit/>
          </a:bodyPr>
          <a:p>
            <a:pPr algn="ctr">
              <a:lnSpc>
                <a:spcPts val="4881"/>
              </a:lnSpc>
              <a:buNone/>
            </a:pPr>
            <a:r>
              <a:rPr b="0" lang="en-US" sz="3480" spc="-1" strike="noStrike">
                <a:solidFill>
                  <a:srgbClr val="2b2b2b"/>
                </a:solidFill>
                <a:latin typeface="Agrandir"/>
                <a:ea typeface="Agrandir"/>
              </a:rPr>
              <a:t>Team Members:</a:t>
            </a:r>
            <a:endParaRPr b="0" lang="en-IN" sz="3480" spc="-1" strike="noStrike">
              <a:latin typeface="Arial"/>
            </a:endParaRPr>
          </a:p>
          <a:p>
            <a:pPr algn="ctr">
              <a:lnSpc>
                <a:spcPts val="4881"/>
              </a:lnSpc>
              <a:buNone/>
            </a:pPr>
            <a:r>
              <a:rPr b="0" lang="en-US" sz="3480" spc="-1" strike="noStrike">
                <a:solidFill>
                  <a:srgbClr val="2b2b2b"/>
                </a:solidFill>
                <a:latin typeface="Agrandir"/>
                <a:ea typeface="Agrandir"/>
              </a:rPr>
              <a:t>Adi Narayana</a:t>
            </a:r>
            <a:endParaRPr b="0" lang="en-IN" sz="3480" spc="-1" strike="noStrike">
              <a:latin typeface="Arial"/>
            </a:endParaRPr>
          </a:p>
          <a:p>
            <a:pPr algn="ctr">
              <a:lnSpc>
                <a:spcPts val="4881"/>
              </a:lnSpc>
              <a:buNone/>
            </a:pPr>
            <a:r>
              <a:rPr b="0" lang="en-US" sz="3480" spc="-1" strike="noStrike">
                <a:solidFill>
                  <a:srgbClr val="2b2b2b"/>
                </a:solidFill>
                <a:latin typeface="Agrandir"/>
                <a:ea typeface="Agrandir"/>
              </a:rPr>
              <a:t>Harsha</a:t>
            </a:r>
            <a:endParaRPr b="0" lang="en-IN" sz="348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cf7"/>
        </a:solidFill>
      </p:bgPr>
    </p:bg>
    <p:spTree>
      <p:nvGrpSpPr>
        <p:cNvPr id="1" name=""/>
        <p:cNvGrpSpPr/>
        <p:nvPr/>
      </p:nvGrpSpPr>
      <p:grpSpPr>
        <a:xfrm>
          <a:off x="0" y="0"/>
          <a:ext cx="0" cy="0"/>
          <a:chOff x="0" y="0"/>
          <a:chExt cx="0" cy="0"/>
        </a:xfrm>
      </p:grpSpPr>
      <p:sp>
        <p:nvSpPr>
          <p:cNvPr id="45" name="TextBox 2"/>
          <p:cNvSpPr/>
          <p:nvPr/>
        </p:nvSpPr>
        <p:spPr>
          <a:xfrm>
            <a:off x="7003440" y="8818920"/>
            <a:ext cx="4280400" cy="391680"/>
          </a:xfrm>
          <a:prstGeom prst="rect">
            <a:avLst/>
          </a:prstGeom>
          <a:noFill/>
          <a:ln w="0">
            <a:noFill/>
          </a:ln>
        </p:spPr>
        <p:style>
          <a:lnRef idx="0"/>
          <a:fillRef idx="0"/>
          <a:effectRef idx="0"/>
          <a:fontRef idx="minor"/>
        </p:style>
        <p:txBody>
          <a:bodyPr lIns="0" rIns="0" tIns="0" bIns="0" anchor="t">
            <a:spAutoFit/>
          </a:bodyPr>
          <a:p>
            <a:pPr algn="ctr">
              <a:lnSpc>
                <a:spcPts val="3081"/>
              </a:lnSpc>
              <a:buNone/>
              <a:tabLst>
                <a:tab algn="l" pos="0"/>
              </a:tabLst>
            </a:pPr>
            <a:r>
              <a:rPr b="0" lang="en-US" sz="2200" spc="-1" strike="noStrike">
                <a:solidFill>
                  <a:srgbClr val="2b2b2b"/>
                </a:solidFill>
                <a:latin typeface="Agrandir"/>
                <a:ea typeface="Agrandir"/>
              </a:rPr>
              <a:t>1</a:t>
            </a:r>
            <a:endParaRPr b="0" lang="en-IN" sz="2200" spc="-1" strike="noStrike">
              <a:latin typeface="Arial"/>
            </a:endParaRPr>
          </a:p>
        </p:txBody>
      </p:sp>
      <p:sp>
        <p:nvSpPr>
          <p:cNvPr id="46" name="TextBox 3"/>
          <p:cNvSpPr/>
          <p:nvPr/>
        </p:nvSpPr>
        <p:spPr>
          <a:xfrm>
            <a:off x="0" y="2406600"/>
            <a:ext cx="17788320" cy="6030360"/>
          </a:xfrm>
          <a:prstGeom prst="rect">
            <a:avLst/>
          </a:prstGeom>
          <a:noFill/>
          <a:ln w="0">
            <a:noFill/>
          </a:ln>
        </p:spPr>
        <p:style>
          <a:lnRef idx="0"/>
          <a:fillRef idx="0"/>
          <a:effectRef idx="0"/>
          <a:fontRef idx="minor"/>
        </p:style>
        <p:txBody>
          <a:bodyPr lIns="0" rIns="0" tIns="0" bIns="0" anchor="t">
            <a:spAutoFit/>
          </a:bodyPr>
          <a:p>
            <a:pPr lvl="1" marL="732240" indent="-366120" algn="just">
              <a:lnSpc>
                <a:spcPts val="4748"/>
              </a:lnSpc>
              <a:buClr>
                <a:srgbClr val="2b2b2b"/>
              </a:buClr>
              <a:buFont typeface="Arial"/>
              <a:buChar char="•"/>
            </a:pPr>
            <a:r>
              <a:rPr b="0" lang="en-US" sz="3390" spc="-1" strike="noStrike">
                <a:solidFill>
                  <a:srgbClr val="2b2b2b"/>
                </a:solidFill>
                <a:latin typeface="Agrandir"/>
                <a:ea typeface="Agrandir"/>
              </a:rPr>
              <a:t>The goal of this project is to develop a multimedia recording and playback system where audio and video are captured simultaneously for 10 seconds on an x86 system. compress the video using H.265, and Audio with flac transmit it to a Raspberry Pi. On the Raspberry Pi, the system synchronizes playback and displays video frames on an LCD screen.</a:t>
            </a:r>
            <a:endParaRPr b="0" lang="en-IN" sz="3390" spc="-1" strike="noStrike">
              <a:latin typeface="Arial"/>
            </a:endParaRPr>
          </a:p>
          <a:p>
            <a:pPr algn="ctr">
              <a:lnSpc>
                <a:spcPts val="4748"/>
              </a:lnSpc>
              <a:buNone/>
            </a:pPr>
            <a:endParaRPr b="0" lang="en-IN" sz="1800" spc="-1" strike="noStrike">
              <a:latin typeface="Arial"/>
            </a:endParaRPr>
          </a:p>
          <a:p>
            <a:pPr lvl="1" marL="732240" indent="-366120" algn="just">
              <a:lnSpc>
                <a:spcPts val="4748"/>
              </a:lnSpc>
              <a:buClr>
                <a:srgbClr val="2b2b2b"/>
              </a:buClr>
              <a:buFont typeface="Arial"/>
              <a:buChar char="•"/>
            </a:pPr>
            <a:r>
              <a:rPr b="0" lang="en-US" sz="3390" spc="-1" strike="noStrike">
                <a:solidFill>
                  <a:srgbClr val="2b2b2b"/>
                </a:solidFill>
                <a:latin typeface="Agrandir"/>
                <a:ea typeface="Agrandir"/>
              </a:rPr>
              <a:t>Ensuring synchronized audio-video recording, compression, and playback on resource-constrained devices like the Raspberry Pi is challenging. This project aims to capture 10 seconds of multimedia and achieve synchronized playback on an LCD display with multithreading for efficiency.</a:t>
            </a:r>
            <a:endParaRPr b="0" lang="en-IN" sz="3390" spc="-1" strike="noStrike">
              <a:latin typeface="Arial"/>
            </a:endParaRPr>
          </a:p>
        </p:txBody>
      </p:sp>
      <p:sp>
        <p:nvSpPr>
          <p:cNvPr id="47" name="TextBox 4"/>
          <p:cNvSpPr/>
          <p:nvPr/>
        </p:nvSpPr>
        <p:spPr>
          <a:xfrm>
            <a:off x="3439080" y="771480"/>
            <a:ext cx="11409120" cy="945000"/>
          </a:xfrm>
          <a:prstGeom prst="rect">
            <a:avLst/>
          </a:prstGeom>
          <a:noFill/>
          <a:ln w="0">
            <a:noFill/>
          </a:ln>
        </p:spPr>
        <p:style>
          <a:lnRef idx="0"/>
          <a:fillRef idx="0"/>
          <a:effectRef idx="0"/>
          <a:fontRef idx="minor"/>
        </p:style>
        <p:txBody>
          <a:bodyPr lIns="0" rIns="0" tIns="0" bIns="0" anchor="t">
            <a:spAutoFit/>
          </a:bodyPr>
          <a:p>
            <a:pPr algn="ctr">
              <a:lnSpc>
                <a:spcPts val="7438"/>
              </a:lnSpc>
              <a:buNone/>
            </a:pPr>
            <a:r>
              <a:rPr b="0" lang="en-US" sz="5310" spc="-1" strike="noStrike">
                <a:solidFill>
                  <a:srgbClr val="2b2b2b"/>
                </a:solidFill>
                <a:latin typeface="Agrandir"/>
                <a:ea typeface="Agrandir"/>
              </a:rPr>
              <a:t>Problem Statement</a:t>
            </a:r>
            <a:endParaRPr b="0" lang="en-IN" sz="531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cf7"/>
        </a:solidFill>
      </p:bgPr>
    </p:bg>
    <p:spTree>
      <p:nvGrpSpPr>
        <p:cNvPr id="1" name=""/>
        <p:cNvGrpSpPr/>
        <p:nvPr/>
      </p:nvGrpSpPr>
      <p:grpSpPr>
        <a:xfrm>
          <a:off x="0" y="0"/>
          <a:ext cx="0" cy="0"/>
          <a:chOff x="0" y="0"/>
          <a:chExt cx="0" cy="0"/>
        </a:xfrm>
      </p:grpSpPr>
      <p:sp>
        <p:nvSpPr>
          <p:cNvPr id="48" name="Freeform 2"/>
          <p:cNvSpPr/>
          <p:nvPr/>
        </p:nvSpPr>
        <p:spPr>
          <a:xfrm>
            <a:off x="1238400" y="1173600"/>
            <a:ext cx="7905240" cy="8641800"/>
          </a:xfrm>
          <a:custGeom>
            <a:avLst/>
            <a:gdLst/>
            <a:ahLst/>
            <a:rect l="l" t="t" r="r" b="b"/>
            <a:pathLst>
              <a:path w="7905629" h="8642290">
                <a:moveTo>
                  <a:pt x="0" y="0"/>
                </a:moveTo>
                <a:lnTo>
                  <a:pt x="7905629" y="0"/>
                </a:lnTo>
                <a:lnTo>
                  <a:pt x="7905629" y="8642290"/>
                </a:lnTo>
                <a:lnTo>
                  <a:pt x="0" y="8642290"/>
                </a:lnTo>
                <a:lnTo>
                  <a:pt x="0" y="0"/>
                </a:lnTo>
                <a:close/>
              </a:path>
            </a:pathLst>
          </a:custGeom>
          <a:blipFill rotWithShape="0">
            <a:blip r:embed="rId1"/>
            <a:srcRect/>
            <a:stretch/>
          </a:blipFill>
          <a:ln w="0">
            <a:noFill/>
          </a:ln>
        </p:spPr>
        <p:style>
          <a:lnRef idx="0"/>
          <a:fillRef idx="0"/>
          <a:effectRef idx="0"/>
          <a:fontRef idx="minor"/>
        </p:style>
      </p:sp>
      <p:sp>
        <p:nvSpPr>
          <p:cNvPr id="49" name="Freeform 3"/>
          <p:cNvSpPr/>
          <p:nvPr/>
        </p:nvSpPr>
        <p:spPr>
          <a:xfrm>
            <a:off x="9990720" y="1258200"/>
            <a:ext cx="7525440" cy="8472600"/>
          </a:xfrm>
          <a:custGeom>
            <a:avLst/>
            <a:gdLst/>
            <a:ahLst/>
            <a:rect l="l" t="t" r="r" b="b"/>
            <a:pathLst>
              <a:path w="7525942" h="8473027">
                <a:moveTo>
                  <a:pt x="0" y="0"/>
                </a:moveTo>
                <a:lnTo>
                  <a:pt x="7525943" y="0"/>
                </a:lnTo>
                <a:lnTo>
                  <a:pt x="7525943" y="8473027"/>
                </a:lnTo>
                <a:lnTo>
                  <a:pt x="0" y="8473027"/>
                </a:lnTo>
                <a:lnTo>
                  <a:pt x="0" y="0"/>
                </a:lnTo>
                <a:close/>
              </a:path>
            </a:pathLst>
          </a:custGeom>
          <a:blipFill rotWithShape="0">
            <a:blip r:embed="rId2"/>
            <a:srcRect/>
            <a:stretch/>
          </a:blipFill>
          <a:ln w="0">
            <a:noFill/>
          </a:ln>
        </p:spPr>
        <p:style>
          <a:lnRef idx="0"/>
          <a:fillRef idx="0"/>
          <a:effectRef idx="0"/>
          <a:fontRef idx="minor"/>
        </p:style>
      </p:sp>
      <p:sp>
        <p:nvSpPr>
          <p:cNvPr id="50" name="TextBox 4"/>
          <p:cNvSpPr/>
          <p:nvPr/>
        </p:nvSpPr>
        <p:spPr>
          <a:xfrm>
            <a:off x="7340400" y="-61920"/>
            <a:ext cx="3606840" cy="1947240"/>
          </a:xfrm>
          <a:prstGeom prst="rect">
            <a:avLst/>
          </a:prstGeom>
          <a:noFill/>
          <a:ln w="0">
            <a:noFill/>
          </a:ln>
        </p:spPr>
        <p:style>
          <a:lnRef idx="0"/>
          <a:fillRef idx="0"/>
          <a:effectRef idx="0"/>
          <a:fontRef idx="minor"/>
        </p:style>
        <p:txBody>
          <a:bodyPr lIns="0" rIns="0" tIns="0" bIns="0" anchor="t">
            <a:spAutoFit/>
          </a:bodyPr>
          <a:p>
            <a:pPr algn="ctr">
              <a:lnSpc>
                <a:spcPts val="7668"/>
              </a:lnSpc>
              <a:buNone/>
            </a:pPr>
            <a:r>
              <a:rPr b="0" lang="en-US" sz="5470" spc="-1" strike="noStrike">
                <a:solidFill>
                  <a:srgbClr val="000000"/>
                </a:solidFill>
                <a:latin typeface="Agrandir"/>
                <a:ea typeface="Agrandir"/>
              </a:rPr>
              <a:t>Flow Chart</a:t>
            </a:r>
            <a:endParaRPr b="0" lang="en-IN" sz="547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cf7"/>
        </a:solidFill>
      </p:bgPr>
    </p:bg>
    <p:spTree>
      <p:nvGrpSpPr>
        <p:cNvPr id="1" name=""/>
        <p:cNvGrpSpPr/>
        <p:nvPr/>
      </p:nvGrpSpPr>
      <p:grpSpPr>
        <a:xfrm>
          <a:off x="0" y="0"/>
          <a:ext cx="0" cy="0"/>
          <a:chOff x="0" y="0"/>
          <a:chExt cx="0" cy="0"/>
        </a:xfrm>
      </p:grpSpPr>
      <p:sp>
        <p:nvSpPr>
          <p:cNvPr id="51" name="Freeform 2"/>
          <p:cNvSpPr/>
          <p:nvPr/>
        </p:nvSpPr>
        <p:spPr>
          <a:xfrm>
            <a:off x="1516320" y="2994120"/>
            <a:ext cx="6626520" cy="4969800"/>
          </a:xfrm>
          <a:custGeom>
            <a:avLst/>
            <a:gdLst/>
            <a:ahLst/>
            <a:rect l="l" t="t" r="r" b="b"/>
            <a:pathLst>
              <a:path w="6626821" h="4970116">
                <a:moveTo>
                  <a:pt x="0" y="0"/>
                </a:moveTo>
                <a:lnTo>
                  <a:pt x="6626821" y="0"/>
                </a:lnTo>
                <a:lnTo>
                  <a:pt x="6626821" y="4970116"/>
                </a:lnTo>
                <a:lnTo>
                  <a:pt x="0" y="4970116"/>
                </a:lnTo>
                <a:lnTo>
                  <a:pt x="0" y="0"/>
                </a:lnTo>
                <a:close/>
              </a:path>
            </a:pathLst>
          </a:custGeom>
          <a:blipFill rotWithShape="0">
            <a:blip r:embed="rId1"/>
            <a:srcRect/>
            <a:stretch/>
          </a:blipFill>
          <a:ln w="0">
            <a:noFill/>
          </a:ln>
        </p:spPr>
        <p:style>
          <a:lnRef idx="0"/>
          <a:fillRef idx="0"/>
          <a:effectRef idx="0"/>
          <a:fontRef idx="minor"/>
        </p:style>
      </p:sp>
      <p:sp>
        <p:nvSpPr>
          <p:cNvPr id="52" name="Freeform 3"/>
          <p:cNvSpPr/>
          <p:nvPr/>
        </p:nvSpPr>
        <p:spPr>
          <a:xfrm>
            <a:off x="10004040" y="2994120"/>
            <a:ext cx="6626520" cy="4969800"/>
          </a:xfrm>
          <a:custGeom>
            <a:avLst/>
            <a:gdLst/>
            <a:ahLst/>
            <a:rect l="l" t="t" r="r" b="b"/>
            <a:pathLst>
              <a:path w="6626821" h="4970116">
                <a:moveTo>
                  <a:pt x="0" y="0"/>
                </a:moveTo>
                <a:lnTo>
                  <a:pt x="6626821" y="0"/>
                </a:lnTo>
                <a:lnTo>
                  <a:pt x="6626821" y="4970116"/>
                </a:lnTo>
                <a:lnTo>
                  <a:pt x="0" y="4970116"/>
                </a:lnTo>
                <a:lnTo>
                  <a:pt x="0" y="0"/>
                </a:lnTo>
                <a:close/>
              </a:path>
            </a:pathLst>
          </a:custGeom>
          <a:blipFill rotWithShape="0">
            <a:blip r:embed="rId2"/>
            <a:srcRect/>
            <a:stretch/>
          </a:blipFill>
          <a:ln w="0">
            <a:noFill/>
          </a:ln>
        </p:spPr>
        <p:style>
          <a:lnRef idx="0"/>
          <a:fillRef idx="0"/>
          <a:effectRef idx="0"/>
          <a:fontRef idx="minor"/>
        </p:style>
      </p:sp>
      <p:sp>
        <p:nvSpPr>
          <p:cNvPr id="53" name="TextBox 4"/>
          <p:cNvSpPr/>
          <p:nvPr/>
        </p:nvSpPr>
        <p:spPr>
          <a:xfrm>
            <a:off x="7740000" y="633600"/>
            <a:ext cx="1980000" cy="1240200"/>
          </a:xfrm>
          <a:prstGeom prst="rect">
            <a:avLst/>
          </a:prstGeom>
          <a:noFill/>
          <a:ln w="0">
            <a:noFill/>
          </a:ln>
        </p:spPr>
        <p:style>
          <a:lnRef idx="0"/>
          <a:fillRef idx="0"/>
          <a:effectRef idx="0"/>
          <a:fontRef idx="minor"/>
        </p:style>
        <p:txBody>
          <a:bodyPr lIns="0" rIns="0" tIns="0" bIns="0" anchor="t">
            <a:spAutoFit/>
          </a:bodyPr>
          <a:p>
            <a:pPr algn="ctr">
              <a:lnSpc>
                <a:spcPts val="4881"/>
              </a:lnSpc>
              <a:buNone/>
            </a:pPr>
            <a:r>
              <a:rPr b="0" lang="en-US" sz="3480" spc="-1" strike="noStrike">
                <a:solidFill>
                  <a:srgbClr val="000000"/>
                </a:solidFill>
                <a:latin typeface="Agrandir"/>
                <a:ea typeface="Agrandir"/>
              </a:rPr>
              <a:t>Output</a:t>
            </a:r>
            <a:endParaRPr b="0" lang="en-IN" sz="3480" spc="-1" strike="noStrike">
              <a:latin typeface="Arial"/>
            </a:endParaRPr>
          </a:p>
          <a:p>
            <a:pPr algn="ctr">
              <a:lnSpc>
                <a:spcPts val="4881"/>
              </a:lnSpc>
              <a:buNone/>
            </a:pPr>
            <a:endParaRPr b="0" lang="en-IN" sz="1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DAGwcesUEG0</dc:identifier>
  <dc:language>en-IN</dc:language>
  <cp:lastModifiedBy/>
  <dcterms:modified xsi:type="dcterms:W3CDTF">2025-09-16T18:08:45Z</dcterms:modified>
  <cp:revision>2</cp:revision>
  <dc:subject/>
  <dc:title>multimedia_project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