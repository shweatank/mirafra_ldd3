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8.jpeg" ContentType="image/jpeg"/>
  <Override PartName="/ppt/media/image5.png" ContentType="image/png"/>
  <Override PartName="/ppt/media/image6.jpeg" ContentType="image/jpeg"/>
  <Override PartName="/ppt/media/image7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3D41A6-959F-4FF2-A3A3-9E7616888B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0D6D60-370D-4244-8D85-DA432BF7B7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4CEED64-1BD9-4BFD-9CA0-96A11D8044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37ABA7-5F23-4512-BE69-7D41DA4909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0667229-FDCC-4CDD-95E7-1F22F21E0B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ubTitle"/>
          </p:nvPr>
        </p:nvSpPr>
        <p:spPr>
          <a:xfrm>
            <a:off x="677160" y="609480"/>
            <a:ext cx="8595720" cy="61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6D1FB3-3D25-4C88-8CE2-B1DC98CAC2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AFA141-524F-4CEF-89B4-873DD0E5BE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F0C97C-2B04-4371-BDC7-6BBC9C6801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E16614-4222-4F91-90C9-0B9B63B974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6DA13A-9F1A-4DFD-B3D4-96533821A7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5241D5-1F45-4812-8735-FA8C37AC284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EBBCD9D-D9B6-4829-A36C-55BA52E79EF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48231E7-36BD-4740-A6AA-8B91F6B1B5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7C085CD-92A0-483A-AA5A-351CF944C6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7EC6330-A5C9-4FFF-9C0F-0B9774B4A0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39F554D-4B42-4445-98FF-0A6567A4ED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EECCAF1-A67A-4265-8999-6364B92630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677160" y="609480"/>
            <a:ext cx="8595720" cy="61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CB57FF1-9E18-47DD-B307-122A2B7696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8F43CA1-A2B5-4C93-8591-77656887C9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B15CBE3-1707-4D45-98CE-1BDDB60118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6105367-71A5-4E96-AF60-F7251DBD9B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E2CD21E-EE9E-4837-8488-E377EBDDC3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28526DD-2CCB-4F2B-8481-AB0567E8476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05E5442-6BE2-43E2-98D6-29AB33720A7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753A979-6766-4446-BF63-3F3E59ED5E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E4D39AB-AFE0-4989-84A4-CF0F2ED6DE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B2CA2EF-E0BE-4295-9138-27F23A9AA1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F7317A2-CEE2-4CA8-90F1-C1D2068E2B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1373EDC-FB99-46BC-B6F4-5542A3AF0B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ubTitle"/>
          </p:nvPr>
        </p:nvSpPr>
        <p:spPr>
          <a:xfrm>
            <a:off x="677160" y="609480"/>
            <a:ext cx="8595720" cy="61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13784AC-9D35-4538-8DE8-12C768455B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21AA45B-6415-46C4-99E7-C541524C10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54D866C-BF84-4AC3-9847-ED77779701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B197E6C-5558-4F30-8107-08C18B4508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4368B24-E8D8-4483-B994-2D1E0940FB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F92CBB9-1525-4839-9FE1-7BBE17C1310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970FD65-C184-4C41-82D8-360E6468483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83652D6-7800-4EA3-884A-9BBD7C4BDD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C04E574-61D4-4AE5-9814-8E8AAE448A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2407F37-F986-4282-B428-D95E9AAAB3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0C5F930-5E03-4DCE-975B-E5E3FBB28F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063909D-DBCF-4187-99C1-F7DC0BB090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ubTitle"/>
          </p:nvPr>
        </p:nvSpPr>
        <p:spPr>
          <a:xfrm>
            <a:off x="677160" y="609480"/>
            <a:ext cx="8595720" cy="61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2F06533-95C8-481C-8BC0-DD6B3310E1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43587F3-BE5F-41CF-8C81-5EF14AE5D2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131B357-755E-434A-AA9E-A00F487772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DB74807-B961-49E2-9B40-745DB92A2B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34D6193-19DC-416C-86C9-D8A19433C95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3F768C2-04C6-4BF8-BA52-61C4BE396B1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9ADC1EA-A0FC-4D91-BC79-76A64C69EF2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43"/>
          <p:cNvGrpSpPr/>
          <p:nvPr/>
        </p:nvGrpSpPr>
        <p:grpSpPr>
          <a:xfrm>
            <a:off x="0" y="-8640"/>
            <a:ext cx="12191040" cy="6866640"/>
            <a:chOff x="0" y="-8640"/>
            <a:chExt cx="12191040" cy="6866640"/>
          </a:xfrm>
        </p:grpSpPr>
        <p:sp>
          <p:nvSpPr>
            <p:cNvPr id="1" name="Straight Connector 19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" name="Straight Connector 20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4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5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8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9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0" name="Isosceles Triangle 1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grpSp>
        <p:nvGrpSpPr>
          <p:cNvPr id="11" name="Group 15"/>
          <p:cNvGrpSpPr/>
          <p:nvPr/>
        </p:nvGrpSpPr>
        <p:grpSpPr>
          <a:xfrm>
            <a:off x="0" y="-8640"/>
            <a:ext cx="12191040" cy="6866640"/>
            <a:chOff x="0" y="-8640"/>
            <a:chExt cx="12191040" cy="6866640"/>
          </a:xfrm>
        </p:grpSpPr>
        <p:sp>
          <p:nvSpPr>
            <p:cNvPr id="12" name="Freeform 14"/>
            <p:cNvSpPr/>
            <p:nvPr/>
          </p:nvSpPr>
          <p:spPr>
            <a:xfrm>
              <a:off x="0" y="-7920"/>
              <a:ext cx="862560" cy="5697000"/>
            </a:xfrm>
            <a:custGeom>
              <a:avLst/>
              <a:gdLst/>
              <a:ah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3" name="Straight Connector 18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" name="Straight Connector 19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6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7" name="Isosceles Triangle 22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8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9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20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21" name="Isosceles Triangle 26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latin typeface="Arial"/>
              </a:rPr>
              <a:t>Click to edit the title text format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94000" cy="38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Click to edit the outline text format</a:t>
            </a:r>
            <a:endParaRPr b="0" lang="en-IN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Second Outline Level</a:t>
            </a:r>
            <a:endParaRPr b="0" lang="en-IN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Third Outline Level</a:t>
            </a:r>
            <a:endParaRPr b="0" lang="en-IN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Fourth Outline Level</a:t>
            </a:r>
            <a:endParaRPr b="0" lang="en-IN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Fifth Outline Level</a:t>
            </a:r>
            <a:endParaRPr b="0" lang="en-IN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Sixth Outline Level</a:t>
            </a:r>
            <a:endParaRPr b="0" lang="en-IN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Seventh Outline </a:t>
            </a:r>
            <a:r>
              <a:rPr b="0" lang="en-IN" sz="1800" spc="-1" strike="noStrike">
                <a:latin typeface="Arial"/>
              </a:rPr>
              <a:t>Level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5fcbef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EF8F871-756B-4614-9534-EE8F70FDEA01}" type="slidenum">
              <a:rPr b="0" lang="en-US" sz="900" spc="-1" strike="noStrike">
                <a:solidFill>
                  <a:srgbClr val="5fcbef"/>
                </a:solidFill>
                <a:latin typeface="Trebuchet MS"/>
              </a:rPr>
              <a:t>&lt;number&gt;</a:t>
            </a:fld>
            <a:endParaRPr b="0" lang="en-IN" sz="900" spc="-1" strike="noStrike"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43"/>
          <p:cNvGrpSpPr/>
          <p:nvPr/>
        </p:nvGrpSpPr>
        <p:grpSpPr>
          <a:xfrm>
            <a:off x="0" y="-8640"/>
            <a:ext cx="12191040" cy="6866640"/>
            <a:chOff x="0" y="-8640"/>
            <a:chExt cx="12191040" cy="6866640"/>
          </a:xfrm>
        </p:grpSpPr>
        <p:sp>
          <p:nvSpPr>
            <p:cNvPr id="64" name="Straight Connector 19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5" name="Straight Connector 20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8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2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3" name="Isosceles Triangle 1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latin typeface="Arial"/>
              </a:rPr>
              <a:t>Click to edit the title text format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2046240" cy="38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Click to edit the outline text format</a:t>
            </a:r>
            <a:endParaRPr b="0" lang="en-IN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Second Outline Level</a:t>
            </a:r>
            <a:endParaRPr b="0" lang="en-IN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Third Outline Level</a:t>
            </a:r>
            <a:endParaRPr b="0" lang="en-IN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Fourth Outline Level</a:t>
            </a:r>
            <a:endParaRPr b="0" lang="en-IN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Fifth Outline Level</a:t>
            </a:r>
            <a:endParaRPr b="0" lang="en-IN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Sixth Outline Level</a:t>
            </a:r>
            <a:endParaRPr b="0" lang="en-IN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Seventh Outline Level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2826360" y="2160720"/>
            <a:ext cx="2046240" cy="18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Click to edit the outline text format</a:t>
            </a:r>
            <a:endParaRPr b="0" lang="en-IN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Second Outline Level</a:t>
            </a:r>
            <a:endParaRPr b="0" lang="en-IN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Third Outline Level</a:t>
            </a:r>
            <a:endParaRPr b="0" lang="en-IN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Fourth Outline Level</a:t>
            </a:r>
            <a:endParaRPr b="0" lang="en-IN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Fifth Outline Level</a:t>
            </a:r>
            <a:endParaRPr b="0" lang="en-IN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Sixth Outline Level</a:t>
            </a:r>
            <a:endParaRPr b="0" lang="en-IN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Seventh Outline Level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2826360" y="4187520"/>
            <a:ext cx="2046240" cy="18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Click to edit the outline text format</a:t>
            </a:r>
            <a:endParaRPr b="0" lang="en-IN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Second Outline Level</a:t>
            </a:r>
            <a:endParaRPr b="0" lang="en-IN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Third Outline Level</a:t>
            </a:r>
            <a:endParaRPr b="0" lang="en-IN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Fourth Outline Level</a:t>
            </a:r>
            <a:endParaRPr b="0" lang="en-IN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Fifth Outline Level</a:t>
            </a:r>
            <a:endParaRPr b="0" lang="en-IN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Sixth Outline Level</a:t>
            </a:r>
            <a:endParaRPr b="0" lang="en-IN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Seventh Outline Level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ftr" idx="4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sldNum" idx="5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5fcbef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66B5DF-0163-400A-A964-F9931347F3CD}" type="slidenum">
              <a:rPr b="0" lang="en-US" sz="900" spc="-1" strike="noStrike">
                <a:solidFill>
                  <a:srgbClr val="5fcbef"/>
                </a:solidFill>
                <a:latin typeface="Trebuchet MS"/>
              </a:rPr>
              <a:t>&lt;number&gt;</a:t>
            </a:fld>
            <a:endParaRPr b="0" lang="en-IN" sz="900" spc="-1" strike="noStrike">
              <a:latin typeface="Times New Roman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 type="dt" idx="6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43"/>
          <p:cNvGrpSpPr/>
          <p:nvPr/>
        </p:nvGrpSpPr>
        <p:grpSpPr>
          <a:xfrm>
            <a:off x="0" y="-8640"/>
            <a:ext cx="12191040" cy="6866640"/>
            <a:chOff x="0" y="-8640"/>
            <a:chExt cx="12191040" cy="6866640"/>
          </a:xfrm>
        </p:grpSpPr>
        <p:sp>
          <p:nvSpPr>
            <p:cNvPr id="118" name="Straight Connector 19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19" name="Straight Connector 20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0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1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2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3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4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5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6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27" name="Isosceles Triangle 1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latin typeface="Arial"/>
              </a:rPr>
              <a:t>Click to edit the title text format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94000" cy="38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Click to edit the outline text format</a:t>
            </a:r>
            <a:endParaRPr b="0" lang="en-IN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Second Outline Level</a:t>
            </a:r>
            <a:endParaRPr b="0" lang="en-IN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Third Outline Level</a:t>
            </a:r>
            <a:endParaRPr b="0" lang="en-IN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Fourth Outline Level</a:t>
            </a:r>
            <a:endParaRPr b="0" lang="en-IN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Fifth Outline Level</a:t>
            </a:r>
            <a:endParaRPr b="0" lang="en-IN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Sixth Outline Level</a:t>
            </a:r>
            <a:endParaRPr b="0" lang="en-IN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Seventh Outline </a:t>
            </a:r>
            <a:r>
              <a:rPr b="0" lang="en-IN" sz="1800" spc="-1" strike="noStrike">
                <a:latin typeface="Arial"/>
              </a:rPr>
              <a:t>Level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ftr" idx="7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sldNum" idx="8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5fcbef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D862D4-4890-431C-8C73-83CD550A855C}" type="slidenum">
              <a:rPr b="0" lang="en-US" sz="900" spc="-1" strike="noStrike">
                <a:solidFill>
                  <a:srgbClr val="5fcbef"/>
                </a:solidFill>
                <a:latin typeface="Trebuchet MS"/>
              </a:rPr>
              <a:t>&lt;number&gt;</a:t>
            </a:fld>
            <a:endParaRPr b="0" lang="en-IN" sz="900" spc="-1" strike="noStrike">
              <a:latin typeface="Times New Roman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dt" idx="9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roup 43"/>
          <p:cNvGrpSpPr/>
          <p:nvPr/>
        </p:nvGrpSpPr>
        <p:grpSpPr>
          <a:xfrm>
            <a:off x="0" y="-8640"/>
            <a:ext cx="12191040" cy="6866640"/>
            <a:chOff x="0" y="-8640"/>
            <a:chExt cx="12191040" cy="6866640"/>
          </a:xfrm>
        </p:grpSpPr>
        <p:sp>
          <p:nvSpPr>
            <p:cNvPr id="170" name="Straight Connector 19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1" name="Straight Connector 20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2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73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74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75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76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77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78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79" name="Isosceles Triangle 1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latin typeface="Arial"/>
              </a:rPr>
              <a:t>Click to edit the title text format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ftr" idx="10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11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5fcbef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C5DB4B-9D5A-43E0-8100-7FB3545AF73A}" type="slidenum">
              <a:rPr b="0" lang="en-US" sz="900" spc="-1" strike="noStrike">
                <a:solidFill>
                  <a:srgbClr val="5fcbef"/>
                </a:solidFill>
                <a:latin typeface="Trebuchet MS"/>
              </a:rPr>
              <a:t>&lt;number&gt;</a:t>
            </a:fld>
            <a:endParaRPr b="0" lang="en-IN" sz="900" spc="-1" strike="noStrike">
              <a:latin typeface="Times New Roman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dt" idx="12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3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ubTitle"/>
          </p:nvPr>
        </p:nvSpPr>
        <p:spPr>
          <a:xfrm>
            <a:off x="2134080" y="4124160"/>
            <a:ext cx="7765920" cy="109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1800" spc="-1" strike="noStrike">
                <a:solidFill>
                  <a:srgbClr val="808080"/>
                </a:solidFill>
                <a:latin typeface="Trebuchet MS"/>
              </a:rPr>
              <a:t>Presented by, </a:t>
            </a:r>
            <a:endParaRPr b="0" lang="en-IN" sz="1800" spc="-1" strike="noStrike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1800" spc="-1" strike="noStrike">
                <a:solidFill>
                  <a:srgbClr val="808080"/>
                </a:solidFill>
                <a:latin typeface="Trebuchet MS"/>
              </a:rPr>
              <a:t>Snigdha</a:t>
            </a:r>
            <a:endParaRPr b="0" lang="en-IN" sz="1800" spc="-1" strike="noStrike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1800" spc="-1" strike="noStrike">
                <a:solidFill>
                  <a:srgbClr val="808080"/>
                </a:solidFill>
                <a:latin typeface="Trebuchet MS"/>
              </a:rPr>
              <a:t>Afreensha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540000" y="900000"/>
            <a:ext cx="11159280" cy="23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endParaRPr b="0" lang="en-IN" sz="3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4000" spc="-1" strike="noStrike">
                <a:solidFill>
                  <a:srgbClr val="c9211e"/>
                </a:solidFill>
                <a:latin typeface="Arial"/>
                <a:ea typeface="DejaVu Sans"/>
              </a:rPr>
              <a:t>Multi-Client socket LED control system </a:t>
            </a:r>
            <a:endParaRPr b="0" lang="en-IN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4000" spc="-1" strike="noStrike">
                <a:solidFill>
                  <a:srgbClr val="c9211e"/>
                </a:solidFill>
                <a:latin typeface="Arial"/>
                <a:ea typeface="DejaVu Sans"/>
              </a:rPr>
              <a:t>with audio alert and OLED interface</a:t>
            </a:r>
            <a:endParaRPr b="0" lang="en-IN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c9211e"/>
                </a:solidFill>
                <a:latin typeface="Trebuchet MS"/>
              </a:rPr>
              <a:t>Problem Statement</a:t>
            </a:r>
            <a:endParaRPr b="0" lang="en-IN" sz="3200" spc="-1" strike="noStrike">
              <a:solidFill>
                <a:srgbClr val="c9211e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360000" y="900000"/>
            <a:ext cx="5353920" cy="575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3920" cy="271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3200" spc="-1" strike="noStrike" u="sng">
                <a:uFillTx/>
                <a:latin typeface="Arial"/>
              </a:rPr>
              <a:t>Tools</a:t>
            </a:r>
            <a:endParaRPr b="0" lang="en-IN" sz="3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Two Linux X86, Raspberry-Pi</a:t>
            </a:r>
            <a:endParaRPr b="0" lang="en-IN" sz="18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3200" spc="-1" strike="noStrike" u="sng">
                <a:uFillTx/>
                <a:latin typeface="Arial"/>
              </a:rPr>
              <a:t>Protocols</a:t>
            </a:r>
            <a:endParaRPr b="0" lang="en-IN" sz="3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I2C, TCP/IP ,Socket</a:t>
            </a:r>
            <a:endParaRPr b="0" lang="en-IN" sz="18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3200" spc="-1" strike="noStrike" u="sng">
                <a:uFillTx/>
                <a:latin typeface="Arial"/>
              </a:rPr>
              <a:t>Hardware Components</a:t>
            </a:r>
            <a:endParaRPr b="0" lang="en-IN" sz="32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LED ,OLED &amp; Jumper WIres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314280" y="1476360"/>
            <a:ext cx="5399640" cy="12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 u="sng">
                <a:uFillTx/>
                <a:latin typeface="Arial"/>
              </a:rPr>
              <a:t>The Problem We're Solving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In places like hospitals or factories, quick alerts are vital, but current systems are often manual or fixed. This means delays or confusion when an emergency happens. We need a smarter, faster way to coordinate both visual (lights) and audio (sounds) alerts automatically, especially when different people trigger them.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2200" spc="-1" strike="noStrike" u="sng">
                <a:uFillTx/>
                <a:latin typeface="Arial"/>
              </a:rPr>
              <a:t>Our Aim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IN" sz="1800" spc="-1" strike="noStrike">
                <a:latin typeface="Arial"/>
              </a:rPr>
              <a:t>To create an automated, real-time alert system.</a:t>
            </a:r>
            <a:endParaRPr b="0" lang="en-IN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endParaRPr b="0" lang="en-IN" sz="1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IN" sz="1800" spc="-1" strike="noStrike">
                <a:latin typeface="Arial"/>
              </a:rPr>
              <a:t>A Raspberry Pi will manage everything.</a:t>
            </a:r>
            <a:endParaRPr b="0" lang="en-IN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endParaRPr b="0" lang="en-IN" sz="9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IN" sz="1800" spc="-1" strike="noStrike">
                <a:latin typeface="Arial"/>
              </a:rPr>
              <a:t>It will smartly assign light or sound alerts to different computers,and show how fast everything is happening on a display.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rgbClr val="5fcbef"/>
                </a:solidFill>
                <a:latin typeface="Trebuchet MS"/>
              </a:rPr>
              <a:t> 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180000" y="360"/>
            <a:ext cx="10259640" cy="66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1800" spc="-1" strike="noStrike">
                <a:solidFill>
                  <a:srgbClr val="404040"/>
                </a:solidFill>
                <a:latin typeface="Trebuchet MS"/>
              </a:rPr>
              <a:t>                                                                           </a:t>
            </a: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  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3200" spc="-1" strike="noStrike">
                <a:solidFill>
                  <a:srgbClr val="c9211e"/>
                </a:solidFill>
                <a:latin typeface="Trebuchet MS"/>
              </a:rPr>
              <a:t>   </a:t>
            </a:r>
            <a:r>
              <a:rPr b="1" lang="en-IN" sz="3200" spc="-1" strike="noStrike">
                <a:solidFill>
                  <a:srgbClr val="c9211e"/>
                </a:solidFill>
                <a:latin typeface="Trebuchet MS"/>
              </a:rPr>
              <a:t>Workflow</a:t>
            </a:r>
            <a:r>
              <a:rPr b="1" lang="en-IN" sz="2400" spc="-1" strike="noStrike">
                <a:solidFill>
                  <a:srgbClr val="404040"/>
                </a:solidFill>
                <a:latin typeface="Trebuchet MS"/>
              </a:rPr>
              <a:t>  </a:t>
            </a:r>
            <a:r>
              <a:rPr b="1" lang="en-IN" sz="2400" spc="-1" strike="noStrike">
                <a:solidFill>
                  <a:srgbClr val="404040"/>
                </a:solidFill>
                <a:latin typeface="Trebuchet MS"/>
              </a:rPr>
              <a:t>                                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1800" spc="-1" strike="noStrike" u="sng">
                <a:solidFill>
                  <a:srgbClr val="404040"/>
                </a:solidFill>
                <a:uFillTx/>
                <a:latin typeface="Trebuchet MS"/>
              </a:rPr>
              <a:t>Simple Block diagram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229" name="" descr=""/>
          <p:cNvPicPr/>
          <p:nvPr/>
        </p:nvPicPr>
        <p:blipFill>
          <a:blip r:embed="rId1"/>
          <a:stretch/>
        </p:blipFill>
        <p:spPr>
          <a:xfrm>
            <a:off x="105480" y="2340000"/>
            <a:ext cx="5469840" cy="2700000"/>
          </a:xfrm>
          <a:prstGeom prst="rect">
            <a:avLst/>
          </a:prstGeom>
          <a:ln w="0">
            <a:noFill/>
          </a:ln>
        </p:spPr>
      </p:pic>
      <p:pic>
        <p:nvPicPr>
          <p:cNvPr id="230" name="" descr=""/>
          <p:cNvPicPr/>
          <p:nvPr/>
        </p:nvPicPr>
        <p:blipFill>
          <a:blip r:embed="rId2"/>
          <a:stretch/>
        </p:blipFill>
        <p:spPr>
          <a:xfrm rot="21573000">
            <a:off x="5954400" y="179280"/>
            <a:ext cx="3288240" cy="6653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-1395720" y="-37044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R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e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a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l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-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T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i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m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e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 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E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x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e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c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u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t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i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o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n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 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D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e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m</a:t>
            </a:r>
            <a:r>
              <a:rPr b="1" lang="en-IN" sz="3200" spc="-1" strike="noStrike">
                <a:solidFill>
                  <a:srgbClr val="c9211e"/>
                </a:solidFill>
                <a:latin typeface="Arial"/>
              </a:rPr>
              <a:t>o</a:t>
            </a:r>
            <a:endParaRPr b="0" lang="en-IN" sz="3200" spc="-1" strike="noStrike">
              <a:solidFill>
                <a:srgbClr val="c9211e"/>
              </a:solidFill>
              <a:latin typeface="Arial"/>
            </a:endParaRPr>
          </a:p>
        </p:txBody>
      </p:sp>
      <p:pic>
        <p:nvPicPr>
          <p:cNvPr id="232" name="" descr=""/>
          <p:cNvPicPr/>
          <p:nvPr/>
        </p:nvPicPr>
        <p:blipFill>
          <a:blip r:embed="rId1"/>
          <a:stretch/>
        </p:blipFill>
        <p:spPr>
          <a:xfrm>
            <a:off x="961560" y="1598760"/>
            <a:ext cx="8641800" cy="5040000"/>
          </a:xfrm>
          <a:prstGeom prst="rect">
            <a:avLst/>
          </a:prstGeom>
          <a:ln w="0">
            <a:noFill/>
          </a:ln>
        </p:spPr>
      </p:pic>
      <p:sp>
        <p:nvSpPr>
          <p:cNvPr id="233" name=""/>
          <p:cNvSpPr txBox="1"/>
          <p:nvPr/>
        </p:nvSpPr>
        <p:spPr>
          <a:xfrm>
            <a:off x="4196880" y="3333960"/>
            <a:ext cx="3861360" cy="23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000" spc="-1" strike="noStrike">
                <a:latin typeface="Arial"/>
              </a:rPr>
              <a:t>Loading OLED, GPIO, and Dummy Network Modules with Server 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977040" y="949320"/>
            <a:ext cx="6582960" cy="31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N" sz="1600" spc="-1" strike="noStrike">
                <a:latin typeface="Arial"/>
              </a:rPr>
              <a:t>1. Loading OLED, GPIO, and Dummy Network Modules with Server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" descr=""/>
          <p:cNvPicPr/>
          <p:nvPr/>
        </p:nvPicPr>
        <p:blipFill>
          <a:blip r:embed="rId1"/>
          <a:stretch/>
        </p:blipFill>
        <p:spPr>
          <a:xfrm>
            <a:off x="720000" y="540000"/>
            <a:ext cx="8100000" cy="2700000"/>
          </a:xfrm>
          <a:prstGeom prst="rect">
            <a:avLst/>
          </a:prstGeom>
          <a:ln w="0">
            <a:noFill/>
          </a:ln>
        </p:spPr>
      </p:pic>
      <p:pic>
        <p:nvPicPr>
          <p:cNvPr id="236" name="" descr=""/>
          <p:cNvPicPr/>
          <p:nvPr/>
        </p:nvPicPr>
        <p:blipFill>
          <a:blip r:embed="rId2"/>
          <a:stretch/>
        </p:blipFill>
        <p:spPr>
          <a:xfrm>
            <a:off x="720000" y="3973320"/>
            <a:ext cx="8210160" cy="2866680"/>
          </a:xfrm>
          <a:prstGeom prst="rect">
            <a:avLst/>
          </a:prstGeom>
          <a:ln w="0">
            <a:noFill/>
          </a:ln>
        </p:spPr>
      </p:pic>
      <p:sp>
        <p:nvSpPr>
          <p:cNvPr id="237" name=""/>
          <p:cNvSpPr txBox="1"/>
          <p:nvPr/>
        </p:nvSpPr>
        <p:spPr>
          <a:xfrm>
            <a:off x="698760" y="63720"/>
            <a:ext cx="6958080" cy="3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N" sz="1600" spc="-1" strike="noStrike">
                <a:latin typeface="Arial"/>
              </a:rPr>
              <a:t>2. Alert System with RTT Tracking and GPIO-Based LED/Audio Control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657360" y="3489480"/>
            <a:ext cx="8882640" cy="31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N" sz="1600" spc="-1" strike="noStrike">
                <a:latin typeface="Arial"/>
              </a:rPr>
              <a:t>3. Client-Synchronized LED Blink System Using Command Acknowledgment over Network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" descr=""/>
          <p:cNvPicPr/>
          <p:nvPr/>
        </p:nvPicPr>
        <p:blipFill>
          <a:blip r:embed="rId1"/>
          <a:stretch/>
        </p:blipFill>
        <p:spPr>
          <a:xfrm rot="16193400">
            <a:off x="5673240" y="723240"/>
            <a:ext cx="3772800" cy="3772800"/>
          </a:xfrm>
          <a:prstGeom prst="rect">
            <a:avLst/>
          </a:prstGeom>
          <a:ln w="0">
            <a:noFill/>
          </a:ln>
        </p:spPr>
      </p:pic>
      <p:pic>
        <p:nvPicPr>
          <p:cNvPr id="240" name="" descr=""/>
          <p:cNvPicPr/>
          <p:nvPr/>
        </p:nvPicPr>
        <p:blipFill>
          <a:blip r:embed="rId2"/>
          <a:stretch/>
        </p:blipFill>
        <p:spPr>
          <a:xfrm rot="10800000">
            <a:off x="200520" y="720000"/>
            <a:ext cx="5199480" cy="3780000"/>
          </a:xfrm>
          <a:prstGeom prst="rect">
            <a:avLst/>
          </a:prstGeom>
          <a:ln w="0">
            <a:noFill/>
          </a:ln>
        </p:spPr>
      </p:pic>
      <p:sp>
        <p:nvSpPr>
          <p:cNvPr id="241" name=""/>
          <p:cNvSpPr txBox="1"/>
          <p:nvPr/>
        </p:nvSpPr>
        <p:spPr>
          <a:xfrm>
            <a:off x="649800" y="4723920"/>
            <a:ext cx="2590200" cy="3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N" sz="1600" spc="-1" strike="noStrike">
                <a:latin typeface="Arial"/>
              </a:rPr>
              <a:t>4. RTT Tracking Enabled </a:t>
            </a:r>
            <a:endParaRPr b="1" lang="en-IN" sz="1600" spc="-1" strike="noStrike"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5940000" y="4723920"/>
            <a:ext cx="2863080" cy="3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N" sz="1600" spc="-1" strike="noStrike">
                <a:latin typeface="Arial"/>
              </a:rPr>
              <a:t>5. Visual &amp; Audio Alerts ON 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Picture 5" descr=""/>
          <p:cNvPicPr/>
          <p:nvPr/>
        </p:nvPicPr>
        <p:blipFill>
          <a:blip r:embed="rId1"/>
          <a:stretch/>
        </p:blipFill>
        <p:spPr>
          <a:xfrm>
            <a:off x="1440000" y="594360"/>
            <a:ext cx="7722000" cy="566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169536</TotalTime>
  <Application>LibreOffice/7.3.7.2$Linux_X86_64 LibreOffice_project/30$Build-2</Application>
  <AppVersion>15.0000</AppVersion>
  <Words>565</Words>
  <Paragraphs>99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2024-06-01T07:49:59Z</dcterms:created>
  <dc:creator>V19he5s4 he5</dc:creator>
  <dc:description/>
  <dc:language>en-IN</dc:language>
  <cp:lastModifiedBy/>
  <dcterms:modified xsi:type="dcterms:W3CDTF">2025-07-31T14:46:38Z</dcterms:modified>
  <cp:revision>84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